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6" r:id="rId2"/>
  </p:sldMasterIdLst>
  <p:notesMasterIdLst>
    <p:notesMasterId r:id="rId19"/>
  </p:notesMasterIdLst>
  <p:handoutMasterIdLst>
    <p:handoutMasterId r:id="rId20"/>
  </p:handoutMasterIdLst>
  <p:sldIdLst>
    <p:sldId id="349" r:id="rId3"/>
    <p:sldId id="350" r:id="rId4"/>
    <p:sldId id="351" r:id="rId5"/>
    <p:sldId id="352" r:id="rId6"/>
    <p:sldId id="353" r:id="rId7"/>
    <p:sldId id="354" r:id="rId8"/>
    <p:sldId id="355" r:id="rId9"/>
    <p:sldId id="356" r:id="rId10"/>
    <p:sldId id="357" r:id="rId11"/>
    <p:sldId id="358" r:id="rId12"/>
    <p:sldId id="359" r:id="rId13"/>
    <p:sldId id="360" r:id="rId14"/>
    <p:sldId id="361" r:id="rId15"/>
    <p:sldId id="362" r:id="rId16"/>
    <p:sldId id="363" r:id="rId17"/>
    <p:sldId id="308" r:id="rId1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339" autoAdjust="0"/>
    <p:restoredTop sz="86512" autoAdjust="0"/>
  </p:normalViewPr>
  <p:slideViewPr>
    <p:cSldViewPr snapToGrid="0" snapToObjects="1">
      <p:cViewPr varScale="1">
        <p:scale>
          <a:sx n="96" d="100"/>
          <a:sy n="96" d="100"/>
        </p:scale>
        <p:origin x="84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2/16/2018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smtClean="0">
                <a:solidFill>
                  <a:schemeClr val="dk1"/>
                </a:solidFill>
                <a:effectLst/>
                <a:latin typeface="Arial" panose="020B0604020202020204" pitchFamily="34" charset="0"/>
                <a:ea typeface="Arial"/>
                <a:cs typeface="Arial" panose="020B0604020202020204" pitchFamily="34" charset="0"/>
                <a:sym typeface="Arial"/>
              </a:rPr>
              <a:t>If this PowerPoint presentation contains mathematical equations, you may need to check that your computer has the following installed:</a:t>
            </a:r>
          </a:p>
          <a:p>
            <a:r>
              <a:rPr lang="en-US" sz="1200" b="0" i="0" u="none" strike="noStrike" kern="1200" cap="none" dirty="0" smtClean="0">
                <a:solidFill>
                  <a:schemeClr val="dk1"/>
                </a:solidFill>
                <a:effectLst/>
                <a:latin typeface="Arial" panose="020B0604020202020204" pitchFamily="34" charset="0"/>
                <a:ea typeface="Arial"/>
                <a:cs typeface="Arial" panose="020B0604020202020204" pitchFamily="34" charset="0"/>
                <a:sym typeface="Arial"/>
              </a:rPr>
              <a:t>1) </a:t>
            </a:r>
            <a:r>
              <a:rPr lang="en-US" sz="1200" b="0" i="0" u="none" strike="noStrike" kern="1200" cap="none" dirty="0" err="1" smtClean="0">
                <a:solidFill>
                  <a:schemeClr val="dk1"/>
                </a:solidFill>
                <a:effectLst/>
                <a:latin typeface="Arial" panose="020B0604020202020204" pitchFamily="34" charset="0"/>
                <a:ea typeface="Arial"/>
                <a:cs typeface="Arial" panose="020B0604020202020204" pitchFamily="34" charset="0"/>
                <a:sym typeface="Arial"/>
              </a:rPr>
              <a:t>MathType</a:t>
            </a:r>
            <a:r>
              <a:rPr lang="en-US" sz="1200" b="0" i="0" u="none" strike="noStrike" kern="1200" cap="none" dirty="0" smtClean="0">
                <a:solidFill>
                  <a:schemeClr val="dk1"/>
                </a:solidFill>
                <a:effectLst/>
                <a:latin typeface="Arial" panose="020B0604020202020204" pitchFamily="34" charset="0"/>
                <a:ea typeface="Arial"/>
                <a:cs typeface="Arial" panose="020B0604020202020204" pitchFamily="34" charset="0"/>
                <a:sym typeface="Arial"/>
              </a:rPr>
              <a:t> Plugin</a:t>
            </a:r>
          </a:p>
          <a:p>
            <a:r>
              <a:rPr lang="en-US" sz="1200" b="0" i="0" u="none" strike="noStrike" kern="1200" cap="none" dirty="0" smtClean="0">
                <a:solidFill>
                  <a:schemeClr val="dk1"/>
                </a:solidFill>
                <a:effectLst/>
                <a:latin typeface="Arial" panose="020B0604020202020204" pitchFamily="34" charset="0"/>
                <a:ea typeface="Arial"/>
                <a:cs typeface="Arial" panose="020B0604020202020204" pitchFamily="34" charset="0"/>
                <a:sym typeface="Arial"/>
              </a:rPr>
              <a:t>2) Math Player (free versions available)</a:t>
            </a:r>
          </a:p>
          <a:p>
            <a:r>
              <a:rPr lang="en-US" sz="1200" b="0" i="0" u="none" strike="noStrike" kern="1200" cap="none" dirty="0" smtClean="0">
                <a:solidFill>
                  <a:schemeClr val="dk1"/>
                </a:solidFill>
                <a:effectLst/>
                <a:latin typeface="Arial" panose="020B0604020202020204" pitchFamily="34" charset="0"/>
                <a:ea typeface="Arial"/>
                <a:cs typeface="Arial" panose="020B0604020202020204" pitchFamily="34" charset="0"/>
                <a:sym typeface="Arial"/>
              </a:rPr>
              <a:t>3) NVDA Reader (free versions available)</a:t>
            </a:r>
          </a:p>
          <a:p>
            <a:pPr eaLnBrk="1" hangingPunct="1"/>
            <a:endParaRPr lang="en-AU" dirty="0" smtClean="0">
              <a:latin typeface="Times New Roman" pitchFamily="-84" charset="0"/>
              <a:ea typeface="ＭＳ Ｐゴシック" pitchFamily="-84" charset="-128"/>
              <a:cs typeface="ＭＳ Ｐゴシック" pitchFamily="-8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a:t>
            </a:fld>
            <a:endParaRPr lang="en-US" dirty="0"/>
          </a:p>
        </p:txBody>
      </p:sp>
    </p:spTree>
    <p:extLst>
      <p:ext uri="{BB962C8B-B14F-4D97-AF65-F5344CB8AC3E}">
        <p14:creationId xmlns:p14="http://schemas.microsoft.com/office/powerpoint/2010/main" val="3283166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6107DEDE-22A8-49DE-A5A3-181364404362}" type="slidenum">
              <a:rPr lang="en-US" altLang="en-US" sz="1200"/>
              <a:pPr eaLnBrk="1" hangingPunct="1"/>
              <a:t>2</a:t>
            </a:fld>
            <a:endParaRPr lang="en-US" altLang="en-US" sz="1200"/>
          </a:p>
        </p:txBody>
      </p:sp>
      <p:sp>
        <p:nvSpPr>
          <p:cNvPr id="4098" name="Rectangle 2"/>
          <p:cNvSpPr>
            <a:spLocks noGrp="1" noRot="1" noChangeAspect="1" noChangeArrowheads="1"/>
          </p:cNvSpPr>
          <p:nvPr>
            <p:ph type="sldImg"/>
          </p:nvPr>
        </p:nvSpPr>
        <p:spPr>
          <a:solidFill>
            <a:srgbClr val="FFFFFF"/>
          </a:solidFill>
          <a:ln/>
        </p:spPr>
      </p:sp>
      <p:sp>
        <p:nvSpPr>
          <p:cNvPr id="4099"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6207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BF88A75C-8E0A-4988-A9DA-8DCC62ABFD52}" type="slidenum">
              <a:rPr lang="en-US" altLang="en-US" sz="1200"/>
              <a:pPr eaLnBrk="1" hangingPunct="1"/>
              <a:t>3</a:t>
            </a:fld>
            <a:endParaRPr lang="en-US" altLang="en-US" sz="1200"/>
          </a:p>
        </p:txBody>
      </p:sp>
      <p:sp>
        <p:nvSpPr>
          <p:cNvPr id="6146" name="Rectangle 2"/>
          <p:cNvSpPr>
            <a:spLocks noGrp="1" noRot="1" noChangeAspect="1" noChangeArrowheads="1"/>
          </p:cNvSpPr>
          <p:nvPr>
            <p:ph type="sldImg"/>
          </p:nvPr>
        </p:nvSpPr>
        <p:spPr>
          <a:solidFill>
            <a:srgbClr val="FFFFFF"/>
          </a:solidFill>
          <a:ln/>
        </p:spPr>
      </p:sp>
      <p:sp>
        <p:nvSpPr>
          <p:cNvPr id="6147"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246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33AD4120-7AA5-40D8-B354-497535B85230}" type="slidenum">
              <a:rPr lang="en-US" altLang="en-US" sz="1200"/>
              <a:pPr eaLnBrk="1" hangingPunct="1"/>
              <a:t>4</a:t>
            </a:fld>
            <a:endParaRPr lang="en-US" altLang="en-US" sz="1200"/>
          </a:p>
        </p:txBody>
      </p:sp>
      <p:sp>
        <p:nvSpPr>
          <p:cNvPr id="8194" name="Rectangle 2"/>
          <p:cNvSpPr>
            <a:spLocks noGrp="1" noRot="1" noChangeAspect="1" noChangeArrowheads="1"/>
          </p:cNvSpPr>
          <p:nvPr>
            <p:ph type="sldImg"/>
          </p:nvPr>
        </p:nvSpPr>
        <p:spPr>
          <a:solidFill>
            <a:srgbClr val="FFFFFF"/>
          </a:solidFill>
          <a:ln/>
        </p:spPr>
      </p:sp>
      <p:sp>
        <p:nvSpPr>
          <p:cNvPr id="8195"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8169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F38702E2-6272-4D9C-850D-6DFB60B31A91}" type="slidenum">
              <a:rPr lang="en-US" altLang="en-US" sz="1200"/>
              <a:pPr eaLnBrk="1" hangingPunct="1"/>
              <a:t>5</a:t>
            </a:fld>
            <a:endParaRPr lang="en-US" altLang="en-US" sz="1200"/>
          </a:p>
        </p:txBody>
      </p:sp>
      <p:sp>
        <p:nvSpPr>
          <p:cNvPr id="10242" name="Rectangle 2"/>
          <p:cNvSpPr>
            <a:spLocks noGrp="1" noRot="1" noChangeAspect="1" noChangeArrowheads="1"/>
          </p:cNvSpPr>
          <p:nvPr>
            <p:ph type="sldImg"/>
          </p:nvPr>
        </p:nvSpPr>
        <p:spPr>
          <a:solidFill>
            <a:srgbClr val="FFFFFF"/>
          </a:solidFill>
          <a:ln/>
        </p:spPr>
      </p:sp>
      <p:sp>
        <p:nvSpPr>
          <p:cNvPr id="10243"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70863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60B5CBC0-8779-45A8-BF29-7F623127358E}" type="slidenum">
              <a:rPr lang="en-US" altLang="en-US" sz="1200"/>
              <a:pPr eaLnBrk="1" hangingPunct="1"/>
              <a:t>6</a:t>
            </a:fld>
            <a:endParaRPr lang="en-US" altLang="en-US" sz="1200"/>
          </a:p>
        </p:txBody>
      </p:sp>
      <p:sp>
        <p:nvSpPr>
          <p:cNvPr id="12290" name="Rectangle 2"/>
          <p:cNvSpPr>
            <a:spLocks noGrp="1" noRot="1" noChangeAspect="1" noChangeArrowheads="1"/>
          </p:cNvSpPr>
          <p:nvPr>
            <p:ph type="sldImg"/>
          </p:nvPr>
        </p:nvSpPr>
        <p:spPr>
          <a:solidFill>
            <a:srgbClr val="FFFFFF"/>
          </a:solidFill>
          <a:ln/>
        </p:spPr>
      </p:sp>
      <p:sp>
        <p:nvSpPr>
          <p:cNvPr id="12291"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3771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FFD9F421-A294-4336-BF83-020E4DAE99BB}" type="slidenum">
              <a:rPr lang="en-US" altLang="en-US" sz="1200"/>
              <a:pPr eaLnBrk="1" hangingPunct="1"/>
              <a:t>7</a:t>
            </a:fld>
            <a:endParaRPr lang="en-US" altLang="en-US" sz="1200"/>
          </a:p>
        </p:txBody>
      </p:sp>
      <p:sp>
        <p:nvSpPr>
          <p:cNvPr id="14338" name="Rectangle 2"/>
          <p:cNvSpPr>
            <a:spLocks noGrp="1" noRot="1" noChangeAspect="1" noChangeArrowheads="1"/>
          </p:cNvSpPr>
          <p:nvPr>
            <p:ph type="sldImg"/>
          </p:nvPr>
        </p:nvSpPr>
        <p:spPr>
          <a:solidFill>
            <a:srgbClr val="FFFFFF"/>
          </a:solidFill>
          <a:ln/>
        </p:spPr>
      </p:sp>
      <p:sp>
        <p:nvSpPr>
          <p:cNvPr id="14339"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7269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A1ED8F79-AF8E-41DF-B9B6-8A610CC1BF3F}" type="slidenum">
              <a:rPr lang="en-US" altLang="en-US" sz="1200"/>
              <a:pPr eaLnBrk="1" hangingPunct="1"/>
              <a:t>8</a:t>
            </a:fld>
            <a:endParaRPr lang="en-US" altLang="en-US" sz="1200"/>
          </a:p>
        </p:txBody>
      </p:sp>
      <p:sp>
        <p:nvSpPr>
          <p:cNvPr id="16386" name="Rectangle 2"/>
          <p:cNvSpPr>
            <a:spLocks noGrp="1" noRot="1" noChangeAspect="1" noChangeArrowheads="1"/>
          </p:cNvSpPr>
          <p:nvPr>
            <p:ph type="sldImg"/>
          </p:nvPr>
        </p:nvSpPr>
        <p:spPr>
          <a:solidFill>
            <a:srgbClr val="FFFFFF"/>
          </a:solidFill>
          <a:ln/>
        </p:spPr>
      </p:sp>
      <p:sp>
        <p:nvSpPr>
          <p:cNvPr id="16387"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250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1E62D59B-7B6C-4E1E-BF19-F11B1D2389D5}" type="slidenum">
              <a:rPr lang="en-US" altLang="en-US" sz="1200"/>
              <a:pPr eaLnBrk="1" hangingPunct="1"/>
              <a:t>9</a:t>
            </a:fld>
            <a:endParaRPr lang="en-US" altLang="en-US" sz="1200"/>
          </a:p>
        </p:txBody>
      </p:sp>
      <p:sp>
        <p:nvSpPr>
          <p:cNvPr id="18434" name="Rectangle 2"/>
          <p:cNvSpPr>
            <a:spLocks noGrp="1" noRot="1" noChangeAspect="1" noChangeArrowheads="1"/>
          </p:cNvSpPr>
          <p:nvPr>
            <p:ph type="sldImg"/>
          </p:nvPr>
        </p:nvSpPr>
        <p:spPr>
          <a:solidFill>
            <a:srgbClr val="FFFFFF"/>
          </a:solidFill>
          <a:ln/>
        </p:spPr>
      </p:sp>
      <p:sp>
        <p:nvSpPr>
          <p:cNvPr id="18435"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2306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DF319922-6DCA-46EB-8AE0-66FE6FD7B8B7}" type="slidenum">
              <a:rPr lang="en-US" altLang="en-US" sz="1200"/>
              <a:pPr eaLnBrk="1" hangingPunct="1"/>
              <a:t>10</a:t>
            </a:fld>
            <a:endParaRPr lang="en-US" altLang="en-US" sz="1200"/>
          </a:p>
        </p:txBody>
      </p:sp>
      <p:sp>
        <p:nvSpPr>
          <p:cNvPr id="20482" name="Rectangle 2"/>
          <p:cNvSpPr>
            <a:spLocks noGrp="1" noRot="1" noChangeAspect="1" noChangeArrowheads="1"/>
          </p:cNvSpPr>
          <p:nvPr>
            <p:ph type="sldImg"/>
          </p:nvPr>
        </p:nvSpPr>
        <p:spPr>
          <a:solidFill>
            <a:srgbClr val="FFFFFF"/>
          </a:solidFill>
          <a:ln/>
        </p:spPr>
      </p:sp>
      <p:sp>
        <p:nvSpPr>
          <p:cNvPr id="20483"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8232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5B3984D5-CEEB-415D-8627-3C886CB22E37}" type="slidenum">
              <a:rPr lang="en-US" altLang="en-US" sz="1200"/>
              <a:pPr eaLnBrk="1" hangingPunct="1"/>
              <a:t>11</a:t>
            </a:fld>
            <a:endParaRPr lang="en-US" altLang="en-US" sz="1200"/>
          </a:p>
        </p:txBody>
      </p:sp>
      <p:sp>
        <p:nvSpPr>
          <p:cNvPr id="22530" name="Rectangle 2"/>
          <p:cNvSpPr>
            <a:spLocks noGrp="1" noRot="1" noChangeAspect="1" noChangeArrowheads="1"/>
          </p:cNvSpPr>
          <p:nvPr>
            <p:ph type="sldImg"/>
          </p:nvPr>
        </p:nvSpPr>
        <p:spPr>
          <a:solidFill>
            <a:srgbClr val="FFFFFF"/>
          </a:solidFill>
          <a:ln/>
        </p:spPr>
      </p:sp>
      <p:sp>
        <p:nvSpPr>
          <p:cNvPr id="22531"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1504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A645E3BA-34CB-4627-B99F-A1D6EF2FC4D1}" type="slidenum">
              <a:rPr lang="en-US" altLang="en-US" sz="1200"/>
              <a:pPr eaLnBrk="1" hangingPunct="1"/>
              <a:t>12</a:t>
            </a:fld>
            <a:endParaRPr lang="en-US" altLang="en-US" sz="1200"/>
          </a:p>
        </p:txBody>
      </p:sp>
      <p:sp>
        <p:nvSpPr>
          <p:cNvPr id="24578" name="Rectangle 2"/>
          <p:cNvSpPr>
            <a:spLocks noGrp="1" noRot="1" noChangeAspect="1" noChangeArrowheads="1"/>
          </p:cNvSpPr>
          <p:nvPr>
            <p:ph type="sldImg"/>
          </p:nvPr>
        </p:nvSpPr>
        <p:spPr>
          <a:solidFill>
            <a:srgbClr val="FFFFFF"/>
          </a:solidFill>
          <a:ln/>
        </p:spPr>
      </p:sp>
      <p:sp>
        <p:nvSpPr>
          <p:cNvPr id="24579"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737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284C31AC-7674-4190-9593-6213712201B0}" type="slidenum">
              <a:rPr lang="en-US" altLang="en-US" sz="1200"/>
              <a:pPr eaLnBrk="1" hangingPunct="1"/>
              <a:t>13</a:t>
            </a:fld>
            <a:endParaRPr lang="en-US" altLang="en-US" sz="1200"/>
          </a:p>
        </p:txBody>
      </p:sp>
      <p:sp>
        <p:nvSpPr>
          <p:cNvPr id="26626" name="Rectangle 2"/>
          <p:cNvSpPr>
            <a:spLocks noGrp="1" noRot="1" noChangeAspect="1" noChangeArrowheads="1"/>
          </p:cNvSpPr>
          <p:nvPr>
            <p:ph type="sldImg"/>
          </p:nvPr>
        </p:nvSpPr>
        <p:spPr>
          <a:solidFill>
            <a:srgbClr val="FFFFFF"/>
          </a:solidFill>
          <a:ln/>
        </p:spPr>
      </p:sp>
      <p:sp>
        <p:nvSpPr>
          <p:cNvPr id="26627"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29665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0CA6D224-D7AC-4A32-852B-912FF430274A}" type="slidenum">
              <a:rPr lang="en-US" altLang="en-US" sz="1200"/>
              <a:pPr eaLnBrk="1" hangingPunct="1"/>
              <a:t>14</a:t>
            </a:fld>
            <a:endParaRPr lang="en-US" altLang="en-US" sz="1200"/>
          </a:p>
        </p:txBody>
      </p:sp>
      <p:sp>
        <p:nvSpPr>
          <p:cNvPr id="28674" name="Rectangle 2"/>
          <p:cNvSpPr>
            <a:spLocks noGrp="1" noRot="1" noChangeAspect="1" noChangeArrowheads="1"/>
          </p:cNvSpPr>
          <p:nvPr>
            <p:ph type="sldImg"/>
          </p:nvPr>
        </p:nvSpPr>
        <p:spPr>
          <a:solidFill>
            <a:srgbClr val="FFFFFF"/>
          </a:solidFill>
          <a:ln/>
        </p:spPr>
      </p:sp>
      <p:sp>
        <p:nvSpPr>
          <p:cNvPr id="28675"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331859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D0B9570A-DA2C-42BE-BB77-C2C22B98184F}" type="slidenum">
              <a:rPr lang="en-US" altLang="en-US" sz="1200"/>
              <a:pPr eaLnBrk="1" hangingPunct="1"/>
              <a:t>15</a:t>
            </a:fld>
            <a:endParaRPr lang="en-US" altLang="en-US" sz="1200"/>
          </a:p>
        </p:txBody>
      </p:sp>
      <p:sp>
        <p:nvSpPr>
          <p:cNvPr id="30722" name="Rectangle 2"/>
          <p:cNvSpPr>
            <a:spLocks noGrp="1" noRot="1" noChangeAspect="1" noChangeArrowheads="1"/>
          </p:cNvSpPr>
          <p:nvPr>
            <p:ph type="sldImg"/>
          </p:nvPr>
        </p:nvSpPr>
        <p:spPr>
          <a:solidFill>
            <a:srgbClr val="FFFFFF"/>
          </a:solidFill>
          <a:ln/>
        </p:spPr>
      </p:sp>
      <p:sp>
        <p:nvSpPr>
          <p:cNvPr id="30723"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56963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16</a:t>
            </a:fld>
            <a:endParaRPr lang="en-US"/>
          </a:p>
        </p:txBody>
      </p:sp>
    </p:spTree>
    <p:extLst>
      <p:ext uri="{BB962C8B-B14F-4D97-AF65-F5344CB8AC3E}">
        <p14:creationId xmlns:p14="http://schemas.microsoft.com/office/powerpoint/2010/main" val="3745848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Title 1"/>
          <p:cNvSpPr txBox="1">
            <a:spLocks noGrp="1"/>
          </p:cNvSpPr>
          <p:nvPr>
            <p:ph type="title"/>
          </p:nvPr>
        </p:nvSpPr>
        <p:spPr>
          <a:xfrm>
            <a:off x="457200" y="264920"/>
            <a:ext cx="8229600" cy="125908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panose="02020603050405020304" pitchFamily="18" charset="0"/>
                <a:ea typeface="Times New Roman" panose="02020603050405020304" pitchFamily="18" charset="0"/>
                <a:cs typeface="Times New Roman" panose="02020603050405020304" pitchFamily="18" charset="0"/>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smtClean="0"/>
              <a:t>Click to edit Master title style</a:t>
            </a:r>
            <a:endParaRPr dirty="0"/>
          </a:p>
        </p:txBody>
      </p:sp>
      <p:sp>
        <p:nvSpPr>
          <p:cNvPr id="55" name="Content Placeholder 2"/>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8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pPr lvl="0"/>
            <a:endParaRPr lang="en-US" sz="2400" dirty="0" smtClean="0"/>
          </a:p>
        </p:txBody>
      </p:sp>
    </p:spTree>
    <p:extLst>
      <p:ext uri="{BB962C8B-B14F-4D97-AF65-F5344CB8AC3E}">
        <p14:creationId xmlns:p14="http://schemas.microsoft.com/office/powerpoint/2010/main" val="30676142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many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26721"/>
            <a:ext cx="8229600" cy="1097279"/>
          </a:xfrm>
        </p:spPr>
        <p:txBody>
          <a:bodyPr/>
          <a:lstStyle>
            <a:lvl1pPr>
              <a:defRPr sz="3400">
                <a:latin typeface="Times New Roman" panose="02020603050405020304" pitchFamily="18" charset="0"/>
                <a:cs typeface="Times New Roman" panose="02020603050405020304" pitchFamily="18" charset="0"/>
              </a:defRPr>
            </a:lvl1pPr>
          </a:lstStyle>
          <a:p>
            <a:r>
              <a:rPr lang="en-US" dirty="0" smtClean="0"/>
              <a:t>Click to edit Master title style</a:t>
            </a:r>
            <a:endParaRPr lang="en-US" dirty="0"/>
          </a:p>
        </p:txBody>
      </p:sp>
      <p:sp>
        <p:nvSpPr>
          <p:cNvPr id="3" name="Content Placeholder 2"/>
          <p:cNvSpPr>
            <a:spLocks noGrp="1"/>
          </p:cNvSpPr>
          <p:nvPr>
            <p:ph idx="1" hasCustomPrompt="1"/>
          </p:nvPr>
        </p:nvSpPr>
        <p:spPr>
          <a:xfrm>
            <a:off x="533400" y="5181600"/>
            <a:ext cx="685800" cy="838200"/>
          </a:xfrm>
        </p:spPr>
        <p:txBody>
          <a:bodyPr anchor="ct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smtClean="0"/>
              <a:t>1</a:t>
            </a:r>
            <a:endParaRPr lang="en-US" dirty="0"/>
          </a:p>
        </p:txBody>
      </p:sp>
      <p:sp>
        <p:nvSpPr>
          <p:cNvPr id="8" name="Content Placeholder 7"/>
          <p:cNvSpPr>
            <a:spLocks noGrp="1"/>
          </p:cNvSpPr>
          <p:nvPr>
            <p:ph sz="quarter" idx="10" hasCustomPrompt="1"/>
          </p:nvPr>
        </p:nvSpPr>
        <p:spPr>
          <a:xfrm>
            <a:off x="1752600" y="5181600"/>
            <a:ext cx="762000" cy="914400"/>
          </a:xfrm>
        </p:spPr>
        <p:txBody>
          <a:bodyPr anchor="ctr"/>
          <a:lstStyle>
            <a:lvl1pPr>
              <a:defRPr sz="2400">
                <a:latin typeface="+mn-lt"/>
              </a:defRPr>
            </a:lvl1pPr>
          </a:lstStyle>
          <a:p>
            <a:pPr lvl="0"/>
            <a:r>
              <a:rPr lang="en-US" dirty="0" smtClean="0"/>
              <a:t>2</a:t>
            </a:r>
            <a:endParaRPr lang="en-US" dirty="0"/>
          </a:p>
        </p:txBody>
      </p:sp>
      <p:sp>
        <p:nvSpPr>
          <p:cNvPr id="10" name="Content Placeholder 9"/>
          <p:cNvSpPr>
            <a:spLocks noGrp="1"/>
          </p:cNvSpPr>
          <p:nvPr>
            <p:ph sz="quarter" idx="11" hasCustomPrompt="1"/>
          </p:nvPr>
        </p:nvSpPr>
        <p:spPr>
          <a:xfrm>
            <a:off x="3429000" y="5181600"/>
            <a:ext cx="609600" cy="914400"/>
          </a:xfrm>
        </p:spPr>
        <p:txBody>
          <a:bodyPr anchor="ctr"/>
          <a:lstStyle>
            <a:lvl1pPr>
              <a:defRPr sz="2400">
                <a:latin typeface="+mn-lt"/>
              </a:defRPr>
            </a:lvl1pPr>
          </a:lstStyle>
          <a:p>
            <a:pPr lvl="0"/>
            <a:r>
              <a:rPr lang="en-US" dirty="0" smtClean="0"/>
              <a:t>3</a:t>
            </a:r>
          </a:p>
        </p:txBody>
      </p:sp>
      <p:sp>
        <p:nvSpPr>
          <p:cNvPr id="12" name="Content Placeholder 11"/>
          <p:cNvSpPr>
            <a:spLocks noGrp="1"/>
          </p:cNvSpPr>
          <p:nvPr>
            <p:ph sz="quarter" idx="12" hasCustomPrompt="1"/>
          </p:nvPr>
        </p:nvSpPr>
        <p:spPr>
          <a:xfrm>
            <a:off x="5257800" y="5222050"/>
            <a:ext cx="533400" cy="1008062"/>
          </a:xfrm>
        </p:spPr>
        <p:txBody>
          <a:bodyPr anchor="ctr"/>
          <a:lstStyle>
            <a:lvl1pPr>
              <a:defRPr sz="2400">
                <a:latin typeface="+mn-lt"/>
              </a:defRPr>
            </a:lvl1pPr>
          </a:lstStyle>
          <a:p>
            <a:pPr lvl="0"/>
            <a:r>
              <a:rPr lang="en-US" dirty="0" smtClean="0"/>
              <a:t>4</a:t>
            </a:r>
            <a:endParaRPr lang="en-US" dirty="0"/>
          </a:p>
        </p:txBody>
      </p:sp>
    </p:spTree>
    <p:extLst>
      <p:ext uri="{BB962C8B-B14F-4D97-AF65-F5344CB8AC3E}">
        <p14:creationId xmlns:p14="http://schemas.microsoft.com/office/powerpoint/2010/main" val="38448169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hapter Opener">
    <p:spTree>
      <p:nvGrpSpPr>
        <p:cNvPr id="1" name="Shape 37"/>
        <p:cNvGrpSpPr/>
        <p:nvPr/>
      </p:nvGrpSpPr>
      <p:grpSpPr>
        <a:xfrm>
          <a:off x="0" y="0"/>
          <a:ext cx="0" cy="0"/>
          <a:chOff x="0" y="0"/>
          <a:chExt cx="0" cy="0"/>
        </a:xfrm>
      </p:grpSpPr>
      <p:sp>
        <p:nvSpPr>
          <p:cNvPr id="38" name="Title 1"/>
          <p:cNvSpPr txBox="1">
            <a:spLocks noGrp="1"/>
          </p:cNvSpPr>
          <p:nvPr>
            <p:ph type="title"/>
          </p:nvPr>
        </p:nvSpPr>
        <p:spPr>
          <a:xfrm>
            <a:off x="376015" y="152400"/>
            <a:ext cx="8383424" cy="848173"/>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panose="02020603050405020304" pitchFamily="18" charset="0"/>
                <a:ea typeface="Times New Roman" panose="02020603050405020304" pitchFamily="18" charset="0"/>
                <a:cs typeface="Times New Roman" panose="02020603050405020304" pitchFamily="18" charset="0"/>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2"/>
          <p:cNvSpPr txBox="1">
            <a:spLocks noGrp="1"/>
          </p:cNvSpPr>
          <p:nvPr>
            <p:ph type="body" idx="1"/>
          </p:nvPr>
        </p:nvSpPr>
        <p:spPr>
          <a:xfrm>
            <a:off x="376015" y="1048293"/>
            <a:ext cx="8383424" cy="418026"/>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Times New Roman" panose="02020603050405020304" pitchFamily="18" charset="0"/>
                <a:cs typeface="Times New Roman" panose="02020603050405020304" pitchFamily="18" charset="0"/>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0" name="Content Placeholder 3"/>
          <p:cNvSpPr txBox="1">
            <a:spLocks noGrp="1"/>
          </p:cNvSpPr>
          <p:nvPr>
            <p:ph type="body" idx="2"/>
          </p:nvPr>
        </p:nvSpPr>
        <p:spPr>
          <a:xfrm>
            <a:off x="5029199" y="1600200"/>
            <a:ext cx="3730239" cy="1600198"/>
          </a:xfrm>
          <a:prstGeom prst="rect">
            <a:avLst/>
          </a:prstGeom>
          <a:noFill/>
          <a:ln>
            <a:noFill/>
          </a:ln>
        </p:spPr>
        <p:txBody>
          <a:bodyPr lIns="91425" tIns="91425" rIns="91425" bIns="91425" anchor="b" anchorCtr="0"/>
          <a:lstStyle>
            <a:lvl1pPr marL="0" marR="0" lvl="0" indent="0" algn="ctr" rtl="0">
              <a:spcBef>
                <a:spcPts val="0"/>
              </a:spcBef>
              <a:buClr>
                <a:srgbClr val="007FA3"/>
              </a:buClr>
              <a:buFont typeface="Arial"/>
              <a:buNone/>
              <a:defRPr sz="3000" b="1"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dirty="0"/>
          </a:p>
        </p:txBody>
      </p:sp>
      <p:sp>
        <p:nvSpPr>
          <p:cNvPr id="41" name="Content Placeholder 4"/>
          <p:cNvSpPr txBox="1">
            <a:spLocks noGrp="1"/>
          </p:cNvSpPr>
          <p:nvPr>
            <p:ph type="body" idx="3"/>
          </p:nvPr>
        </p:nvSpPr>
        <p:spPr>
          <a:xfrm>
            <a:off x="5029200" y="3200400"/>
            <a:ext cx="3730238" cy="2925763"/>
          </a:xfrm>
          <a:prstGeom prst="rect">
            <a:avLst/>
          </a:prstGeom>
          <a:noFill/>
          <a:ln>
            <a:noFill/>
          </a:ln>
        </p:spPr>
        <p:txBody>
          <a:bodyPr lIns="91425" tIns="91425" rIns="91425" bIns="91425" anchor="t" anchorCtr="0"/>
          <a:lstStyle>
            <a:lvl1pPr marL="0" marR="0" lvl="0" indent="0" algn="ctr" rtl="0">
              <a:spcBef>
                <a:spcPts val="0"/>
              </a:spcBef>
              <a:buClr>
                <a:srgbClr val="007FA3"/>
              </a:buClr>
              <a:buFont typeface="Arial"/>
              <a:buNone/>
              <a:defRPr sz="22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42" name="Content Placeholder 5"/>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sp>
        <p:nvSpPr>
          <p:cNvPr id="3" name="Content Placeholder 6"/>
          <p:cNvSpPr>
            <a:spLocks noGrp="1"/>
          </p:cNvSpPr>
          <p:nvPr>
            <p:ph sz="quarter" idx="13"/>
          </p:nvPr>
        </p:nvSpPr>
        <p:spPr>
          <a:xfrm>
            <a:off x="1524000" y="6553200"/>
            <a:ext cx="6553200" cy="228600"/>
          </a:xfrm>
        </p:spPr>
        <p:txBody>
          <a:bodyPr/>
          <a:lstStyle>
            <a:lvl1pPr marL="101600" indent="0" algn="r">
              <a:buNone/>
              <a:defRPr sz="1200">
                <a:latin typeface="Verdana" panose="020B0604030504040204" pitchFamily="34" charset="0"/>
                <a:ea typeface="Verdana" panose="020B0604030504040204" pitchFamily="34" charset="0"/>
                <a:cs typeface="Verdana" panose="020B0604030504040204" pitchFamily="34" charset="0"/>
              </a:defRPr>
            </a:lvl1pPr>
          </a:lstStyle>
          <a:p>
            <a:pPr lvl="0"/>
            <a:endParaRPr lang="en-US" dirty="0"/>
          </a:p>
        </p:txBody>
      </p:sp>
    </p:spTree>
    <p:extLst>
      <p:ext uri="{BB962C8B-B14F-4D97-AF65-F5344CB8AC3E}">
        <p14:creationId xmlns:p14="http://schemas.microsoft.com/office/powerpoint/2010/main" val="4010353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06633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4">
            <a:alphaModFix/>
          </a:blip>
          <a:srcRect/>
          <a:stretch/>
        </p:blipFill>
        <p:spPr>
          <a:xfrm>
            <a:off x="443972" y="6429709"/>
            <a:ext cx="917999" cy="279914"/>
          </a:xfrm>
          <a:prstGeom prst="rect">
            <a:avLst/>
          </a:prstGeom>
          <a:noFill/>
          <a:ln>
            <a:noFill/>
          </a:ln>
        </p:spPr>
      </p:pic>
      <p:sp>
        <p:nvSpPr>
          <p:cNvPr id="8" name="Shape 16"/>
          <p:cNvSpPr txBox="1"/>
          <p:nvPr userDrawn="1"/>
        </p:nvSpPr>
        <p:spPr>
          <a:xfrm>
            <a:off x="1548924" y="6463528"/>
            <a:ext cx="7162799" cy="200054"/>
          </a:xfrm>
          <a:prstGeom prst="rect">
            <a:avLst/>
          </a:prstGeom>
          <a:noFill/>
          <a:ln>
            <a:noFill/>
          </a:ln>
        </p:spPr>
        <p:txBody>
          <a:bodyPr lIns="91425" tIns="45700" rIns="91425" bIns="45700" anchor="t" anchorCtr="0">
            <a:noAutofit/>
          </a:bodyPr>
          <a:lstStyle/>
          <a:p>
            <a:pPr algn="r"/>
            <a:r>
              <a:rPr lang="en-US" altLang="en-US" sz="1200" dirty="0" smtClean="0">
                <a:latin typeface="Verdana" panose="020B0604030504040204" pitchFamily="34" charset="0"/>
                <a:ea typeface="Verdana" panose="020B0604030504040204" pitchFamily="34" charset="0"/>
                <a:cs typeface="Verdana" panose="020B0604030504040204" pitchFamily="34" charset="0"/>
              </a:rPr>
              <a:t>Copyright © 2016, 2008, 2004 Pearson Education, Inc. 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spTree>
  </p:cSld>
  <p:clrMap bg1="lt1" tx1="dk1" bg2="dk2" tx2="lt2" accent1="accent1" accent2="accent2" accent3="accent3" accent4="accent4" accent5="accent5" accent6="accent6" hlink="hlink" folHlink="folHlink"/>
  <p:sldLayoutIdLst>
    <p:sldLayoutId id="2147483665" r:id="rId1"/>
    <p:sldLayoutId id="2147483669" r:id="rId2"/>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Content Placeholder 2"/>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Content Placeholder 3"/>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pic>
        <p:nvPicPr>
          <p:cNvPr id="15" name="Content Placeholder 4" descr="Pearson Logo"/>
          <p:cNvPicPr preferRelativeResize="0"/>
          <p:nvPr/>
        </p:nvPicPr>
        <p:blipFill rotWithShape="1">
          <a:blip r:embed="rId4">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1312889076"/>
      </p:ext>
    </p:extLst>
  </p:cSld>
  <p:clrMap bg1="lt1" tx1="dk1" bg2="dk2" tx2="lt2" accent1="accent1" accent2="accent2" accent3="accent3" accent4="accent4" accent5="accent5" accent6="accent6" hlink="hlink" folHlink="folHlink"/>
  <p:sldLayoutIdLst>
    <p:sldLayoutId id="2147483667" r:id="rId1"/>
    <p:sldLayoutId id="2147483670" r:id="rId2"/>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101600" marR="0" lvl="0" indent="0" algn="l" rtl="0">
        <a:lnSpc>
          <a:spcPct val="100000"/>
        </a:lnSpc>
        <a:spcBef>
          <a:spcPts val="0"/>
        </a:spcBef>
        <a:spcAft>
          <a:spcPts val="0"/>
        </a:spcAft>
        <a:buNone/>
        <a:defRPr sz="28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a:t>
            </a:r>
            <a:r>
              <a:rPr lang="en-US" dirty="0" smtClean="0"/>
              <a:t>and Computer Design Fundamentals</a:t>
            </a:r>
            <a:endParaRPr lang="en-US" dirty="0"/>
          </a:p>
        </p:txBody>
      </p:sp>
      <p:sp>
        <p:nvSpPr>
          <p:cNvPr id="5" name="Content Placeholder 2"/>
          <p:cNvSpPr>
            <a:spLocks noGrp="1"/>
          </p:cNvSpPr>
          <p:nvPr>
            <p:ph type="body" idx="1"/>
          </p:nvPr>
        </p:nvSpPr>
        <p:spPr/>
        <p:txBody>
          <a:bodyPr/>
          <a:lstStyle/>
          <a:p>
            <a:r>
              <a:rPr lang="en-US" dirty="0" smtClean="0"/>
              <a:t>Fifth </a:t>
            </a:r>
            <a:r>
              <a:rPr lang="en-US" dirty="0"/>
              <a:t>Edition</a:t>
            </a:r>
          </a:p>
        </p:txBody>
      </p:sp>
      <p:sp>
        <p:nvSpPr>
          <p:cNvPr id="9" name="Content Placeholder 3"/>
          <p:cNvSpPr>
            <a:spLocks noGrp="1"/>
          </p:cNvSpPr>
          <p:nvPr>
            <p:ph type="body" idx="2"/>
          </p:nvPr>
        </p:nvSpPr>
        <p:spPr/>
        <p:txBody>
          <a:bodyPr/>
          <a:lstStyle/>
          <a:p>
            <a:r>
              <a:rPr lang="en-US" altLang="en-US" dirty="0" smtClean="0"/>
              <a:t>Chapter 1</a:t>
            </a:r>
            <a:endParaRPr lang="en-US" altLang="en-US" dirty="0"/>
          </a:p>
        </p:txBody>
      </p:sp>
      <p:sp>
        <p:nvSpPr>
          <p:cNvPr id="21" name="Content Placeholder 4"/>
          <p:cNvSpPr>
            <a:spLocks noGrp="1"/>
          </p:cNvSpPr>
          <p:nvPr>
            <p:ph type="body" idx="3"/>
          </p:nvPr>
        </p:nvSpPr>
        <p:spPr/>
        <p:txBody>
          <a:bodyPr/>
          <a:lstStyle/>
          <a:p>
            <a:r>
              <a:rPr lang="en-US" dirty="0"/>
              <a:t>Digital </a:t>
            </a:r>
            <a:r>
              <a:rPr lang="en-US" dirty="0" smtClean="0"/>
              <a:t>Systems</a:t>
            </a:r>
            <a:r>
              <a:rPr lang="en-US" baseline="0" dirty="0" smtClean="0"/>
              <a:t> </a:t>
            </a:r>
            <a:r>
              <a:rPr lang="en-US" dirty="0" smtClean="0"/>
              <a:t>and </a:t>
            </a:r>
            <a:r>
              <a:rPr lang="en-US" dirty="0"/>
              <a:t>Information</a:t>
            </a:r>
          </a:p>
        </p:txBody>
      </p:sp>
      <p:pic>
        <p:nvPicPr>
          <p:cNvPr id="7" name="Picture 6" descr="Front Cover: Logic and Computer Design Fundamentals Fifth Edition by Mano, Kime and Marti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717" y="1659345"/>
            <a:ext cx="3462839" cy="4561682"/>
          </a:xfrm>
          <a:prstGeom prst="rect">
            <a:avLst/>
          </a:prstGeom>
        </p:spPr>
      </p:pic>
      <p:sp>
        <p:nvSpPr>
          <p:cNvPr id="4" name="Content Placeholder 6"/>
          <p:cNvSpPr>
            <a:spLocks noGrp="1"/>
          </p:cNvSpPr>
          <p:nvPr>
            <p:ph sz="quarter" idx="13"/>
          </p:nvPr>
        </p:nvSpPr>
        <p:spPr>
          <a:xfrm>
            <a:off x="2160106" y="6414053"/>
            <a:ext cx="6553200" cy="314737"/>
          </a:xfrm>
        </p:spPr>
        <p:txBody>
          <a:bodyPr/>
          <a:lstStyle/>
          <a:p>
            <a:r>
              <a:rPr lang="en-US" altLang="en-US" dirty="0"/>
              <a:t>Copyright © 2016</a:t>
            </a:r>
            <a:r>
              <a:rPr lang="en-US" altLang="en-US" dirty="0" smtClean="0"/>
              <a:t>, 2008, 2004 </a:t>
            </a:r>
            <a:r>
              <a:rPr lang="en-US" altLang="en-US" dirty="0"/>
              <a:t>Pearson Education, Inc. All Rights </a:t>
            </a:r>
            <a:r>
              <a:rPr lang="en-US" altLang="en-US" dirty="0" smtClean="0"/>
              <a:t>Reserved</a:t>
            </a:r>
            <a:endParaRPr lang="en-US" altLang="en-US" dirty="0"/>
          </a:p>
        </p:txBody>
      </p:sp>
    </p:spTree>
    <p:extLst>
      <p:ext uri="{BB962C8B-B14F-4D97-AF65-F5344CB8AC3E}">
        <p14:creationId xmlns:p14="http://schemas.microsoft.com/office/powerpoint/2010/main" val="29141216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Title 1"/>
          <p:cNvSpPr>
            <a:spLocks noGrp="1"/>
          </p:cNvSpPr>
          <p:nvPr>
            <p:ph type="title"/>
          </p:nvPr>
        </p:nvSpPr>
        <p:spPr/>
        <p:txBody>
          <a:bodyPr/>
          <a:lstStyle/>
          <a:p>
            <a:r>
              <a:rPr lang="en-US" altLang="en-US" dirty="0" smtClean="0"/>
              <a:t>Figure 1-1 Examples of Voltage Ranges and Waveforms for Binary Signals</a:t>
            </a:r>
          </a:p>
        </p:txBody>
      </p:sp>
      <p:pic>
        <p:nvPicPr>
          <p:cNvPr id="3074" name="Picture 2" descr="Three diagrams a, b, and c. Diagram a has the caption, example voltage ranges. Two charts show the ranges of input and output voltages. The output voltage ranges are above 0.9 volts and below 0.1 volts. The input voltage ranges are above 0.6 volts and below 0.4 volts. Diagram b has the caption, time dependent voltage. A graph plots voltage, in volts versus time. There are no coordinates marked on the time axis. A dashed horizontal line extends through 0.5 volts. The graph rises from 0.9 volts to 1.0 volts, then falls through 0.5 volts to 0.0 volts, then rises through 0.5 volts and 0.8 volts.  All values estimated. Diagram c has the caption, binary model of time dependent voltage. A graph plots voltage, in volts, versus time, over the same time range as diagram b. The graph is horizontal at 1.0 volts, then falls vertically to 0.0 volts, then is horizontal, then rises vertically to 1.0 volts, then continues horizontally. The transitions from 1.0 to 0.0 volts and back again occur at the times when the graph in diagram b passes through 0.5 volts. All values estimated."/>
          <p:cNvPicPr>
            <a:picLocks noChangeAspect="1"/>
          </p:cNvPicPr>
          <p:nvPr/>
        </p:nvPicPr>
        <p:blipFill rotWithShape="1">
          <a:blip r:embed="rId3">
            <a:extLst>
              <a:ext uri="{28A0092B-C50C-407E-A947-70E740481C1C}">
                <a14:useLocalDpi xmlns:a14="http://schemas.microsoft.com/office/drawing/2010/main" val="0"/>
              </a:ext>
            </a:extLst>
          </a:blip>
          <a:srcRect b="4405"/>
          <a:stretch/>
        </p:blipFill>
        <p:spPr bwMode="auto">
          <a:xfrm>
            <a:off x="457200" y="1949170"/>
            <a:ext cx="8229600" cy="3666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257872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itle 1"/>
          <p:cNvSpPr>
            <a:spLocks noGrp="1"/>
          </p:cNvSpPr>
          <p:nvPr>
            <p:ph type="title"/>
          </p:nvPr>
        </p:nvSpPr>
        <p:spPr/>
        <p:txBody>
          <a:bodyPr/>
          <a:lstStyle/>
          <a:p>
            <a:r>
              <a:rPr lang="en-US" altLang="en-US" dirty="0" smtClean="0"/>
              <a:t>Figure 1-2 Block Diagram of a Digital Computer</a:t>
            </a:r>
          </a:p>
        </p:txBody>
      </p:sp>
      <p:pic>
        <p:nvPicPr>
          <p:cNvPr id="5122" name="Picture 2" descr="A block diagram of a digital computer is presented in three tiers, arranged in a column. The top tier is the Memory, the middle tier is the C P U, and the bottom tier is the Input Output. The middle tier, the C P U, has two subcomponents, the Control Unit and the Data Path. The C P U exchanges information with the Memory and with the Input Output. Within the C P U, the Control Unit and the Data Path also exchange information."/>
          <p:cNvPicPr>
            <a:picLocks noChangeAspect="1"/>
          </p:cNvPicPr>
          <p:nvPr/>
        </p:nvPicPr>
        <p:blipFill rotWithShape="1">
          <a:blip r:embed="rId3">
            <a:extLst>
              <a:ext uri="{28A0092B-C50C-407E-A947-70E740481C1C}">
                <a14:useLocalDpi xmlns:a14="http://schemas.microsoft.com/office/drawing/2010/main" val="0"/>
              </a:ext>
            </a:extLst>
          </a:blip>
          <a:srcRect b="3396"/>
          <a:stretch/>
        </p:blipFill>
        <p:spPr bwMode="auto">
          <a:xfrm>
            <a:off x="1727332" y="1915189"/>
            <a:ext cx="5746487" cy="4167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38334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p:cNvSpPr>
            <a:spLocks noGrp="1"/>
          </p:cNvSpPr>
          <p:nvPr>
            <p:ph type="title"/>
          </p:nvPr>
        </p:nvSpPr>
        <p:spPr/>
        <p:txBody>
          <a:bodyPr/>
          <a:lstStyle/>
          <a:p>
            <a:r>
              <a:rPr lang="en-US" altLang="en-US" dirty="0" smtClean="0"/>
              <a:t>Figure 1-3 Block Diagram of an Embedded System</a:t>
            </a:r>
          </a:p>
        </p:txBody>
      </p:sp>
      <p:pic>
        <p:nvPicPr>
          <p:cNvPr id="7170" name="Picture 2" descr="A block diagram of an embedded system shows a central module interacting with two input modules, two output modules and an external memory. The central module is the Microcomputer, Microcontroller, or Digital Signal Processor, and is highlighted in the diagram. The central module receives input from A to D converters, which themselves receive input from analog input devices and signal conditioning. Digital input devices and signal conditioning also supply input to the central module. The central module sends output to D to A converters, which in turn send output to signal conditioning and analog output devices. The central module also sends output to signal conditioning and digital output devices. The central module receives information from, and sends information to, an external memory."/>
          <p:cNvPicPr>
            <a:picLocks noChangeAspect="1"/>
          </p:cNvPicPr>
          <p:nvPr/>
        </p:nvPicPr>
        <p:blipFill rotWithShape="1">
          <a:blip r:embed="rId3">
            <a:extLst>
              <a:ext uri="{28A0092B-C50C-407E-A947-70E740481C1C}">
                <a14:useLocalDpi xmlns:a14="http://schemas.microsoft.com/office/drawing/2010/main" val="0"/>
              </a:ext>
            </a:extLst>
          </a:blip>
          <a:srcRect b="3583"/>
          <a:stretch/>
        </p:blipFill>
        <p:spPr bwMode="auto">
          <a:xfrm>
            <a:off x="831273" y="2022255"/>
            <a:ext cx="7481455" cy="3971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86637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p:txBody>
          <a:bodyPr/>
          <a:lstStyle/>
          <a:p>
            <a:r>
              <a:rPr lang="en-US" altLang="en-US" dirty="0" smtClean="0"/>
              <a:t>Figure 1-4 Temperature Measurement and Display</a:t>
            </a:r>
          </a:p>
        </p:txBody>
      </p:sp>
      <p:pic>
        <p:nvPicPr>
          <p:cNvPr id="9218" name="Picture 2" descr="5 graphs and a diagram illustrate the transformation of an analog graph of temperature versus time to a digital representation, and then back to analog. Graph a has the caption, analog temperature, and plots temperature, in degrees Fahrenheit, versus time, in hours. The graph extends from the point (0, minus 10) through the point (2, minus 10), then rises to a maximum at the point (8, 30), then falls to a minimum at (15, minus 10), then rises to a maximum at (20, 10), then falls through (24, minus 10). All values estimated. The process of sensor and signal conditioning leads to graph b. Graph b has the caption, continuous, analog, voltage, and plots voltage, in volts, versus time, in hours. The graph has a similar shape to graph a. The graph extends from the point (0, 3), through (2, 3), then rises to a maximum at (8, 7), then falls to a minimum at (15, 3), then rises to a maximum at (20, 5), then falls through (24, 3). 24 sampling points are indicated on the graph, almost evenly spaced along the time axis between 0 hours and 24 hours, inclusive. All values estimated. The process of analog to digital, or A D, conversion leads to graph c. Graph c has the caption, digital voltage, and plots digital numbers, in binary, versus time in hours. The graph is a step graph. Each step has a similar width and there are 24 of them between 0 hours and 24 hours. Each step is labeled with its height above the time axis, in binary. From left to right, the height of each step above the time axis is as follows. 3, 3, 3, 4, 5, 6, 7, 7, 7, 7, 7, 6, 4, 3, 3, 3, 3, 4, 5, 5, 4, 4, 3, 3. All values estimated. The process of digital to analog, or d a, conversion, leads to graph d. Graph d has the caption, discrete, digital, voltage, and plots voltage in volts versus time in hours. The graph, which is a step graph, is the same as graph c, but the y axis measures voltage here instead of digital numbers. The voltages in graph d have the same numerical values as the digital numbers in graph c. The process of signal conditioning leads to graph e. Graph e has the caption continuous, analog, voltage, and plots voltage, in volts, versus time, in hours. The graph has a similar shape to graph a, but is not as smooth. It extends from the point (0, 4) through (3, 4), then rises to (8, 7), then falls to (15, 4), then rises to (20, 5), then falls through (24, 3).  All values estimated. The process of output leads to diagram f. Diagram f has the caption continuous, analog, readout, and is a series of 5 dial thermometer faces. Each dial shows the temperature at a different time.  From left to right, the needles on the faces show temperatures as follows. 0, 19, 9, 8, and 0. All values estimated."/>
          <p:cNvPicPr>
            <a:picLocks noChangeAspect="1"/>
          </p:cNvPicPr>
          <p:nvPr/>
        </p:nvPicPr>
        <p:blipFill rotWithShape="1">
          <a:blip r:embed="rId3">
            <a:extLst>
              <a:ext uri="{28A0092B-C50C-407E-A947-70E740481C1C}">
                <a14:useLocalDpi xmlns:a14="http://schemas.microsoft.com/office/drawing/2010/main" val="0"/>
              </a:ext>
            </a:extLst>
          </a:blip>
          <a:srcRect b="3205"/>
          <a:stretch/>
        </p:blipFill>
        <p:spPr bwMode="auto">
          <a:xfrm>
            <a:off x="3256973" y="1617818"/>
            <a:ext cx="2655455" cy="4593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985913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1"/>
          <p:cNvSpPr>
            <a:spLocks noGrp="1"/>
          </p:cNvSpPr>
          <p:nvPr>
            <p:ph type="title"/>
          </p:nvPr>
        </p:nvSpPr>
        <p:spPr/>
        <p:txBody>
          <a:bodyPr/>
          <a:lstStyle/>
          <a:p>
            <a:r>
              <a:rPr lang="en-US" altLang="en-US" dirty="0" smtClean="0"/>
              <a:t>Table 1.1 Embedded System Examples</a:t>
            </a:r>
          </a:p>
        </p:txBody>
      </p:sp>
      <p:pic>
        <p:nvPicPr>
          <p:cNvPr id="11266" name="Picture 2" descr="A table has 8 rows and 2 columns. The column headings are as follows from left to right. Application Area, Product. The row entries are as follows. Row 1. Application area. Banking, commerce and manufacturing. Product. Copiers, fax machines, U P C scanners, vending machines, automatic teller machines, automated warehouses, industrial robots, 3 D printers. Row 2. Application area. Communication. Product. Wireless access points, network routers, satellites. Row 3. Application area.  Games and toys. Product. Video games, handheld games, talking stuffed toys. Row 4. Application area. Home appliances. Product. Digital alarm clocks, conventional and microwave ovens, dishwashers. Row 5. Application area. Media. Product. C D players, D V D players, flat panel televisions, digital cameras, digital video cameras. Row 6. Application area. Medical equipment. Product. Pacemakers, incubators, magnetic resonance Imaging. Row 7. Application area. Personal. Product. Digital watches, M P 3 players, smart phones, wearable fitness trackers. Row 8. Application area. Transportation and navigation. Product. Electronic engine controls, traffic light controllers, aircraft flight controls, global positioning systems. "/>
          <p:cNvPicPr>
            <a:picLocks noChangeAspect="1"/>
          </p:cNvPicPr>
          <p:nvPr/>
        </p:nvPicPr>
        <p:blipFill rotWithShape="1">
          <a:blip r:embed="rId3">
            <a:extLst>
              <a:ext uri="{28A0092B-C50C-407E-A947-70E740481C1C}">
                <a14:useLocalDpi xmlns:a14="http://schemas.microsoft.com/office/drawing/2010/main" val="0"/>
              </a:ext>
            </a:extLst>
          </a:blip>
          <a:srcRect t="7692"/>
          <a:stretch/>
        </p:blipFill>
        <p:spPr bwMode="auto">
          <a:xfrm>
            <a:off x="1751235" y="1638966"/>
            <a:ext cx="5641530" cy="4534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374724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1"/>
          <p:cNvSpPr>
            <a:spLocks noGrp="1"/>
          </p:cNvSpPr>
          <p:nvPr>
            <p:ph type="title"/>
          </p:nvPr>
        </p:nvSpPr>
        <p:spPr/>
        <p:txBody>
          <a:bodyPr/>
          <a:lstStyle/>
          <a:p>
            <a:r>
              <a:rPr lang="en-US" altLang="en-US" dirty="0" smtClean="0"/>
              <a:t>Figure 1-5 Typical Layers of Abstraction in Modern Computer Systems</a:t>
            </a:r>
          </a:p>
        </p:txBody>
      </p:sp>
      <p:pic>
        <p:nvPicPr>
          <p:cNvPr id="13314" name="Picture 2" descr="A chart provides the typical layers of abstraction in modern computer systems. From top to bottom the chart reads as follows. Algorithms, Programming Languages, Operating Systems, Instruction Set Architecture, Microarchitecture, Register Transfers, Logic Gates, Transistor Circuits."/>
          <p:cNvPicPr>
            <a:picLocks noChangeAspect="1"/>
          </p:cNvPicPr>
          <p:nvPr/>
        </p:nvPicPr>
        <p:blipFill rotWithShape="1">
          <a:blip r:embed="rId3">
            <a:extLst>
              <a:ext uri="{28A0092B-C50C-407E-A947-70E740481C1C}">
                <a14:useLocalDpi xmlns:a14="http://schemas.microsoft.com/office/drawing/2010/main" val="0"/>
              </a:ext>
            </a:extLst>
          </a:blip>
          <a:srcRect b="3205"/>
          <a:stretch/>
        </p:blipFill>
        <p:spPr bwMode="auto">
          <a:xfrm>
            <a:off x="2132734" y="1627754"/>
            <a:ext cx="4935682" cy="4593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27783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lstStyle/>
          <a:p>
            <a:r>
              <a:rPr lang="en-US" altLang="en-US" dirty="0" smtClean="0"/>
              <a:t>Table 1.2 Powers of Two</a:t>
            </a:r>
          </a:p>
        </p:txBody>
      </p:sp>
      <p:pic>
        <p:nvPicPr>
          <p:cNvPr id="15362" name="Picture 2" descr="A table has 24 rows and 2 columns. The columns have the following headings from left to right. n, 2 to the n power. The row entries are as follows. 0, 1. 1, 2. 2, 4. 3, 8. 4, 16. 5, 32. 6, 64. 7, 128. 8, 256. 9, 512. 10, 1024. 11, 2048. 12, 4096. 13, 8192. 14, 16,384. 15, 32,768. 16, 65,536. 17, 131,072. 18, 262,144. 19, 524,288. 20, 1,048,576. 21, 2,097,152. 22, 4,194,304. 23, 8,388,608. "/>
          <p:cNvPicPr>
            <a:picLocks noChangeAspect="1"/>
          </p:cNvPicPr>
          <p:nvPr/>
        </p:nvPicPr>
        <p:blipFill rotWithShape="1">
          <a:blip r:embed="rId3">
            <a:extLst>
              <a:ext uri="{28A0092B-C50C-407E-A947-70E740481C1C}">
                <a14:useLocalDpi xmlns:a14="http://schemas.microsoft.com/office/drawing/2010/main" val="0"/>
              </a:ext>
            </a:extLst>
          </a:blip>
          <a:srcRect t="17603"/>
          <a:stretch/>
        </p:blipFill>
        <p:spPr bwMode="auto">
          <a:xfrm>
            <a:off x="914400" y="1948066"/>
            <a:ext cx="7315200" cy="4141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95070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r>
              <a:rPr lang="en-US" altLang="en-US" dirty="0" smtClean="0"/>
              <a:t>Table 1.3 Numbers with Different Bases</a:t>
            </a:r>
          </a:p>
        </p:txBody>
      </p:sp>
      <p:pic>
        <p:nvPicPr>
          <p:cNvPr id="17410" name="Picture 2" descr="A table has 16 rows and 4 columns. The columns have the following headings from left to right. Decimal, base 10.  Binary, base 2. Octal, base 8. Hexadecimal, base 16. The row entries are as follows. Row 1. Decimal, 0 0. Binary, 0 0 0 0. Octal, 0 0. Hexadecimal, 0. Row 2. Decimal, 0 1. Binary, 0 0 0 1. Octal, 0 1. Hexadecimal, 1. Row 3. Decimal, 0 2. Binary, 0 0 1 0. Octal, 0 2. Hexadecimal, 2. Row 4. Decimal, 0 3. Binary, 0 0 1 1. Octal, 0 3. Hexadecimal, 3. Row 5. Decimal, 0 4. Binary, 0 1 0 0. Octal, 0 4. Hexadecimal, 4. Row 6. Decimal, 0 5. Binary, 0 1 0 1. Octal, 0 5. Hexadecimal, 5. Row 7. Decimal, 0 6. Binary, 0 1 1 0. Octal, 0 6. Hexadecimal, 6.&#10;Row 8. Decimal, 0 7. Binary, 0 1 1 1. Octal, 0 7. Hexadecimal, 7. Row 9. Decimal, 0 8. Binary, 1 0 0 0. Octal, 1 0. Hexadecimal, 8. Row 10. Decimal, 0 9. Binary, 1 0 0 1. Octal, 1 1. Hexadecimal, 9.&#10;Row 11. Decimal, 1 0. Binary, 1 0 1 0. Octal, 1 2. Hexadecimal, A. Row 12. Decimal, 1 1. Binary, 1 0 1 1. Octal, 1 3. Hexadecimal, B. Row 13. Decimal, 1 2. Binary, 1 1 0 0. Octal, 1 4. Hexadecimal, C. Row 14. Decimal, 1 3. Binary, 1 1 0 1. Octal, 1 5. Hexadecimal, D. Row 15. Decimal, 1 4. Binary, 1 1 1 0. Octal, 1 6. Hexadecimal, E. Row 16. Decimal, 1 5. Binary, 1 1 1 1. Octal, 1 7. Hexadecimal, F. &#10;"/>
          <p:cNvPicPr>
            <a:picLocks noChangeAspect="1"/>
          </p:cNvPicPr>
          <p:nvPr/>
        </p:nvPicPr>
        <p:blipFill rotWithShape="1">
          <a:blip r:embed="rId3">
            <a:extLst>
              <a:ext uri="{28A0092B-C50C-407E-A947-70E740481C1C}">
                <a14:useLocalDpi xmlns:a14="http://schemas.microsoft.com/office/drawing/2010/main" val="0"/>
              </a:ext>
            </a:extLst>
          </a:blip>
          <a:srcRect t="10033"/>
          <a:stretch/>
        </p:blipFill>
        <p:spPr bwMode="auto">
          <a:xfrm>
            <a:off x="2706360" y="1706409"/>
            <a:ext cx="3731281" cy="4419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79114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r>
              <a:rPr lang="en-US" altLang="en-US" dirty="0" smtClean="0"/>
              <a:t>Table 1.4 Binary-Coded Decimal (B</a:t>
            </a:r>
            <a:r>
              <a:rPr lang="en-US" altLang="en-US" sz="100" dirty="0" smtClean="0"/>
              <a:t> </a:t>
            </a:r>
            <a:r>
              <a:rPr lang="en-US" altLang="en-US" dirty="0" smtClean="0"/>
              <a:t>C</a:t>
            </a:r>
            <a:r>
              <a:rPr lang="en-US" altLang="en-US" sz="100" dirty="0" smtClean="0"/>
              <a:t> </a:t>
            </a:r>
            <a:r>
              <a:rPr lang="en-US" altLang="en-US" dirty="0" smtClean="0"/>
              <a:t>D)</a:t>
            </a:r>
          </a:p>
        </p:txBody>
      </p:sp>
      <p:pic>
        <p:nvPicPr>
          <p:cNvPr id="19458" name="Picture 2" descr="A table has 10 rows and 2 columns. The columns have the following headings from left to right. Decimal Symbol, B C D digit. The row entries are as follows. Row 1. 0, 0 0 0 0. Row 2. 1, 0 0 0 1. Row 3. 2, 0 0 1 0. Row 4. 3, 0 0 1 1. Row 5. 4, 0 1 0 0. Row 6. 5, 0 1 0 1. Row 7. 6, 0 1 1 0. Row 8. 7, 0 1 1 1. Row 9. 8, 1 0 0 0. Row 10. 9, 1 0 0 1. "/>
          <p:cNvPicPr>
            <a:picLocks noChangeAspect="1"/>
          </p:cNvPicPr>
          <p:nvPr/>
        </p:nvPicPr>
        <p:blipFill rotWithShape="1">
          <a:blip r:embed="rId3">
            <a:extLst>
              <a:ext uri="{28A0092B-C50C-407E-A947-70E740481C1C}">
                <a14:useLocalDpi xmlns:a14="http://schemas.microsoft.com/office/drawing/2010/main" val="0"/>
              </a:ext>
            </a:extLst>
          </a:blip>
          <a:srcRect t="14098"/>
          <a:stretch/>
        </p:blipFill>
        <p:spPr bwMode="auto">
          <a:xfrm>
            <a:off x="2465388" y="1798977"/>
            <a:ext cx="4213225" cy="4320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878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altLang="en-US" dirty="0" smtClean="0"/>
              <a:t>Table 1.5 American Standard Code for Information Interchange (A</a:t>
            </a:r>
            <a:r>
              <a:rPr lang="en-US" altLang="en-US" sz="100" dirty="0" smtClean="0"/>
              <a:t> </a:t>
            </a:r>
            <a:r>
              <a:rPr lang="en-US" altLang="en-US" dirty="0" smtClean="0"/>
              <a:t>S</a:t>
            </a:r>
            <a:r>
              <a:rPr lang="en-US" altLang="en-US" sz="100" dirty="0" smtClean="0"/>
              <a:t> </a:t>
            </a:r>
            <a:r>
              <a:rPr lang="en-US" altLang="en-US" dirty="0" smtClean="0"/>
              <a:t>C</a:t>
            </a:r>
            <a:r>
              <a:rPr lang="en-US" altLang="en-US" sz="100" dirty="0" smtClean="0"/>
              <a:t> </a:t>
            </a:r>
            <a:r>
              <a:rPr lang="en-US" altLang="en-US" dirty="0" smtClean="0"/>
              <a:t>I</a:t>
            </a:r>
            <a:r>
              <a:rPr lang="en-US" altLang="en-US" sz="100" dirty="0" smtClean="0"/>
              <a:t> </a:t>
            </a:r>
            <a:r>
              <a:rPr lang="en-US" altLang="en-US" dirty="0" smtClean="0"/>
              <a:t>I) </a:t>
            </a:r>
            <a:r>
              <a:rPr lang="en-US" altLang="en-US" sz="2000" b="0" dirty="0" smtClean="0"/>
              <a:t>(1 of 2)</a:t>
            </a:r>
          </a:p>
        </p:txBody>
      </p:sp>
      <p:pic>
        <p:nvPicPr>
          <p:cNvPr id="21506" name="Picture 3" descr="A table has 16 rows and 9 columns. The columns have the following headings from left to right. B sub 4 B sub 3 B sub 2 B sub 1, B sub 7 B sub 6 B sub 5, 0 0 0, B sub 7 B sub 6 B sub 5, 0 0 1, B sub 7 B sub 6 B sub 5, 0 1 0, B sub 7 B sub 6 B sub 5, 0 1 1, B sub 7 B sub 6 B sub 5, 1 0 0, B sub 7 B sub 6 B sub 5, 1 0 1, B sub 7 B sub 6 B sub 5, 1 1 0, B sub 7 B sub 6 B sub 5, 1 1 1. The row entries are as follows. Row 1. B sub 4 B sub 3 B sub 2 B sub 1, 0 0 0 0. B sub 7 B sub 6 B sub 5, 0 0 0, N U L L. B sub 7 B sub 6 B sub 5, 0 0 1, D L E. B sub 7 B sub 6 B sub 5, 0 1 0, S P. B sub 7 B sub 6 B sub 5, 0 1 1, 0. B sub 7 B sub 6 B sub 5, 1 0 0, at the sign. B sub 7 B sub 6 B sub 5, 1 0 1, P. B sub 7 B sub 6 B sub 5, 1 1 0, single quote. B sub 7 B sub 6 B sub 5, 1 1 1, p. Row 2. B sub 4 B sub 3 B sub 2 B sub 1, 0 0 0 1. B sub 7 B sub 6 B sub 5, 0 0 0, S O H. B sub 7 B sub 6 B sub 5, 0 0 1, D C 1. B sub 7 B sub 6 B sub 5, 0 1 0, exclamation point. B sub 7 B sub 6 B sub 5, 0 1 1, 1. B sub 7 B sub 6 B sub 5, 1 0 0, A. B sub 7 B sub 6 B sub 5, 1 0 1, Q. B sub 7 B sub 6 B sub 5, 1 1 0, a. B sub 7 B sub 6 B sub 5, 1 1 1, q. Row 3. B sub 4 B sub 3 B sub 2 B sub 1, 0 0 1 0. B sub 7 B sub 6 B sub 5, 0 0 0, S T X. B sub 7 B sub 6 B sub 5, 0 0 1, D C 2. B sub 7 B sub 6 B sub 5, 0 1 0, double quote. B sub 7 B sub 6 B sub 5, 0 1 1, 2. B sub 7 B sub 6 B sub 5, 1 0 0, B. B sub 7 B sub 6 B sub 5, 1 0 1, R. B sub 7 B sub 6 B sub 5, 1 1 0, b. B sub 7 B sub 6 B sub 5, 1 1 1, r. Row 4. B sub 4 B sub 3 B sub 2 B sub 1, 0 0 1 1. B sub 7 B sub 6 B sub 5, 0 0 0, E T X. B sub 7 B sub 6 B sub 5, 0 0 1, D C 3. B sub 7 B sub 6 B sub 5, 0 1 0, hash. B sub 7 B sub 6 B sub 5, 0 1 1, 3. B sub 7 B sub 6 B sub 5, 1 0 0, C. B sub 7 B sub 6 B sub 5, 1 0 1, S. B sub 7 B sub 6 B sub 5, 1 1 0, c. B sub 7 B sub 6 B sub 5, 1 1 1, s. Row 5. B sub 4 B sub 3 B sub 2 B sub 1, 0 1 0 0. B sub 7 B sub 6 B sub 5, 0 0 0, E O T. B sub 7 B sub 6 B sub 5, 0 0 1, D C 4. B sub 7 B sub 6 B sub 5, 0 1 0, dollar. B sub 7 B sub 6 B sub 5, 0 1 1, 4. B sub 7 B sub 6 B sub 5, 1 0 0, D. B sub 7 B sub 6 B sub 5, 1 0 1, T. B sub 7 B sub 6 B sub 5, 1 1 0, d. B sub 7 B sub 6 B sub 5, 1 1 1, t. Row 6. B sub 4 B sub 3 B sub 2 B sub 1, 0 1 0 1. B sub 7 B sub 6 B sub 5, 0 0 0, E N Q. B sub 7 B sub 6 B sub 5, 0 0 1, N A K. B sub 7 B sub 6 B sub 5, 0 1 0, percent. B sub 7 B sub 6 B sub 5, 0 1 1, 5. B sub 7 B sub 6 B sub 5, 1 0 0, E. B sub 7 B sub 6 B sub 5, 101, U. B sub 7 B sub 6 B sub 5, 1 1 0, e. B sub 7 B sub 6 B sub 5, 1 1 1, u. Row 7. B sub 4 B sub 3 B sub 2 B sub 1, 0 1 1 0. B sub 7 B sub 6 B sub 5, 0 0 0, A C K. B sub 7 B sub 6 B sub 5, 0 0 1, S Y N. B sub 7 B sub 6 B sub 5, 0 1 0, ampersand. B sub 7 B sub 6 B sub 5, 0 1 1, 6. B sub 7 B sub 6 B sub 5, 1 0 0, F. B sub 7 B sub 6 B sub 5, 1 0 1, V. B sub 7 B sub 6 B sub 5, 1 1 0, f. B sub 7 B sub 6 B sub 5, 1 1 1, v. Row 8. B sub 4 B sub 3 B sub 2 B sub 1, 0 1 1 1. B sub 7 B sub 6 B sub 5, 0 0 0, B E L. B sub 7 B sub 6 B sub 5, 0 0 1, E T B. B sub 7 B sub 6 B sub 5, 0 1 0, single quote. B sub 7 B sub 6 B sub 5, 0 1 1, 7. B sub 7 B sub 6 B sub 5, 1 0 0, G. B sub 7 B sub 6 B sub 5, 1 0 1, W. B sub 7 B sub 6 B sub 5, 1 1 0, g. B sub 7 B sub 6 B sub 5, 1 1 1, w. Row 9. B sub 4 B sub 3 B sub 2 B sub 1, 1 0 0 0. B sub 7 B sub 6 B sub 5, 0 0 0, B S. B sub 7 B sub 6 B sub 5, 0 0 1, C A N. B sub 7 B sub 6 B sub 5, 0 1 0, left parenthesis. B sub 7 B sub 6 B sub 5, 0 1 1, 8. B sub 7 B sub 6 B sub 5, 1 0 0, H. B sub 7 B sub 6 B sub 5, 101, X. B sub 7 B sub 6 B sub 5, 1 1 0, h. B sub 7 B sub 6 B sub 5, 1 1 1, x. Row 10. B sub 4 B sub 3 B sub 2 B sub 1, 1 0 0 1. B sub 7 B sub 6 B sub 5, 0 0 0, H T. B sub 7 B sub 6 B sub 5, 0 0 1, E M. B sub 7 B sub 6 B sub 5, 0 1 0, right parenthesis. B sub 7 B sub 6 B sub 5, 0 1 1, 9. B sub 7 B sub 6 B sub 5, 1 0 0, I. B sub 7 B sub 6 B sub 5, 1 0 1, Y. B sub 7 B sub 6 B sub 5, 1 1 0, i. B sub 7 B sub 6 B sub 5, 1 1 1, y. Row 11. B sub 4 B sub 3 B sub 2 B sub 1, 1 0 1 0. B sub 7 B sub 6 B sub 5, 0 0 0, L F. B sub 7 B sub 6 B sub 5, 0 0 1, S U B. B sub 7 B sub 6 B sub 5, 0 1 0, asterisk. B sub 7 B sub 6 B sub 5, 0 1 1, colon. B sub 7 B sub 6 B sub 5, 1 0 0, J. B sub 7 B sub 6 B sub 5, 1 0 1, Z. B sub 7 B sub 6 B sub 5, 1 1 0, j. B sub 7 B sub 6 B sub 5, 1 1 1, z. Row 12. B sub 4 B sub 3 B sub 2 B sub 1, 1 0 1 1. B sub 7 B sub 6 B sub 5, 0 0 0, V T. B sub 7 B sub 6 B sub 5, 0 0 1, E S C. B sub 7 B sub 6 B sub 5, 0 1 0, plus. B sub 7 B sub 6 B sub 5, 0 1 1, semi colon. B sub 7 B sub 6 B sub 5, 1 0 0, K. B sub 7 B sub 6 B sub 5, 1 0 1, left square bracket. B sub 7 B sub 6 B sub 5, 1 1 0, k. B sub 7 B sub 6 B sub 5, 1 1 1, left curly bracket. Row 13. B sub 4 B sub 3 B sub 2 B sub 1, 1 1 0 0. B sub 7 B sub 6 B sub 5, 0 0 0, F F. B sub 7 B sub 6 B sub 5, 0 0 1, F S. B sub 7 B sub 6 B sub 5, 0 1 0, comma. B sub 7 B sub 6 B sub 5, 0 1 1, less than. B sub 7 B sub 6 B sub 5, 1 0 0, L. B sub 7 B sub 6 B sub 5, 1 0 1, backward slash. B sub 7 B sub 6 B sub 5, 1 1 0, l. B sub 7 B sub 6 B sub 5, 1 1 1, pipe. Row 14. B sub 4 B sub 3 B sub 2 B sub 1, 1 1 0 1. B sub 7 B sub 6 B sub 5, 0 0 0, C R. B sub 7 B sub 6 B sub 5, 0 0 1, G S. B sub 7 B sub 6 B sub 5, 0 1 0, hyphen. B sub 7 B sub 6 B sub 5, 0 1 1, equals. B sub 7 B sub 6 B sub 5, 1 0 0, M. B sub 7 B sub 6 B sub 5, 1 0 1, right square bracket. B sub 7 B sub 6 B sub 5, 1 1 0, m. B sub 7 B sub 6 B sub 5, 1 1 1, right curly bracket. Row 15. B sub 4 B sub 3 B sub 2 B sub 1, 1 1 1 0. B sub 7 B sub 6 B sub 5, 0 0 0, S O. B sub 7 B sub 6 B sub 5, 0 0 1, R S. B sub 7 B sub 6 B sub 5, 0 1 0, period. B sub 7 B sub 6 B sub 5, 0 1 1, greater than. B sub 7 B sub 6 B sub 5, 1 0 0, N. B sub 7 B sub 6 B sub 5, 1 0 1, caret. B sub 7 B sub 6 B sub 5, 1 1 0, n. B sub 7 B sub 6 B sub 5, 1 1 1, tilde. Row 16. B sub 4 B sub 3 B sub 2 B sub 1, 1 1 1 1. B sub 7 B sub 6 B sub 5, 0 0 0, S I. B sub 7 B sub 6 B sub 5, 0 0 1, U S. B sub 7 B sub 6 B sub 5, 0 1 0, forward slash. B sub 7 B sub 6 B sub 5, 0 1 1, question mark. B sub 7 B sub 6 B sub 5, 1 0 0, O. B sub 7 B sub 6 B sub 5, 1 0 1, underscore. B sub 7 B sub 6 B sub 5, 1 1 0, o. B sub 7 B sub 6 B sub 5, 1 1 1, D E L. "/>
          <p:cNvPicPr>
            <a:picLocks noChangeAspect="1"/>
          </p:cNvPicPr>
          <p:nvPr/>
        </p:nvPicPr>
        <p:blipFill rotWithShape="1">
          <a:blip r:embed="rId3">
            <a:extLst>
              <a:ext uri="{28A0092B-C50C-407E-A947-70E740481C1C}">
                <a14:useLocalDpi xmlns:a14="http://schemas.microsoft.com/office/drawing/2010/main" val="0"/>
              </a:ext>
            </a:extLst>
          </a:blip>
          <a:srcRect t="10609"/>
          <a:stretch/>
        </p:blipFill>
        <p:spPr bwMode="auto">
          <a:xfrm>
            <a:off x="1184853" y="1763749"/>
            <a:ext cx="6774295" cy="4264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25674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r>
              <a:rPr lang="en-US" altLang="en-US" dirty="0" smtClean="0"/>
              <a:t>Table 1.5 American Standard Code for Information </a:t>
            </a:r>
            <a:r>
              <a:rPr lang="en-US" altLang="en-US" dirty="0"/>
              <a:t>Interchange (A</a:t>
            </a:r>
            <a:r>
              <a:rPr lang="en-US" altLang="en-US" sz="100" dirty="0"/>
              <a:t> </a:t>
            </a:r>
            <a:r>
              <a:rPr lang="en-US" altLang="en-US" dirty="0"/>
              <a:t>S</a:t>
            </a:r>
            <a:r>
              <a:rPr lang="en-US" altLang="en-US" sz="100" dirty="0"/>
              <a:t> </a:t>
            </a:r>
            <a:r>
              <a:rPr lang="en-US" altLang="en-US" dirty="0"/>
              <a:t>C</a:t>
            </a:r>
            <a:r>
              <a:rPr lang="en-US" altLang="en-US" sz="100" dirty="0"/>
              <a:t> </a:t>
            </a:r>
            <a:r>
              <a:rPr lang="en-US" altLang="en-US" dirty="0"/>
              <a:t>I</a:t>
            </a:r>
            <a:r>
              <a:rPr lang="en-US" altLang="en-US" sz="100" dirty="0"/>
              <a:t> </a:t>
            </a:r>
            <a:r>
              <a:rPr lang="en-US" altLang="en-US" dirty="0"/>
              <a:t>I</a:t>
            </a:r>
            <a:r>
              <a:rPr lang="en-US" altLang="en-US" dirty="0" smtClean="0"/>
              <a:t>) </a:t>
            </a:r>
            <a:r>
              <a:rPr lang="en-US" altLang="en-US" sz="2000" b="0" dirty="0" smtClean="0"/>
              <a:t>(2 </a:t>
            </a:r>
            <a:r>
              <a:rPr lang="en-US" altLang="en-US" sz="2000" b="0" dirty="0"/>
              <a:t>of 2)</a:t>
            </a:r>
            <a:endParaRPr lang="en-US" altLang="en-US" dirty="0" smtClean="0"/>
          </a:p>
        </p:txBody>
      </p:sp>
      <p:pic>
        <p:nvPicPr>
          <p:cNvPr id="23554" name="Picture 2" descr="A table has the title, control characters, and has 34 rows and 2 columns. There are no column headings. The row entries are as follows. N U L L, Null. S O H, start of heading. S T X, start of Text. E T X, end of text. E O T, end of transmission. E N Q, enquiry. A C K, acknowledge. B E L, bell. B S, backspace. H T, horizontal tab. L F, line feed. V T, vertical tab. F F, form feed. C R, carriage return. S O, shift out. S I, shift in. S P, space. D L E, data link escape. D C 1, device control 1. D C 2, device control 2. D C 3, device control 3. D C 4, device control 4. N A K, negative acknowledge. S Y N, synchronous idle. E T B, end of transmission block. C A N, cancel. E M, end of medium. S U B, substitute. E S C, escape. F S, file separator. G S, group separator. R S, record separator. U S, unit separator. D E L, delete."/>
          <p:cNvPicPr>
            <a:picLocks noChangeAspect="1"/>
          </p:cNvPicPr>
          <p:nvPr/>
        </p:nvPicPr>
        <p:blipFill rotWithShape="1">
          <a:blip r:embed="rId3">
            <a:extLst>
              <a:ext uri="{28A0092B-C50C-407E-A947-70E740481C1C}">
                <a14:useLocalDpi xmlns:a14="http://schemas.microsoft.com/office/drawing/2010/main" val="0"/>
              </a:ext>
            </a:extLst>
          </a:blip>
          <a:srcRect t="10368"/>
          <a:stretch/>
        </p:blipFill>
        <p:spPr bwMode="auto">
          <a:xfrm>
            <a:off x="1494087" y="1754377"/>
            <a:ext cx="6155826" cy="440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89016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r>
              <a:rPr lang="en-US" altLang="en-US" dirty="0" smtClean="0"/>
              <a:t>Table 1.6 U</a:t>
            </a:r>
            <a:r>
              <a:rPr lang="en-US" altLang="en-US" sz="100" dirty="0" smtClean="0"/>
              <a:t> </a:t>
            </a:r>
            <a:r>
              <a:rPr lang="en-US" altLang="en-US" dirty="0" smtClean="0"/>
              <a:t>T</a:t>
            </a:r>
            <a:r>
              <a:rPr lang="en-US" altLang="en-US" sz="100" dirty="0" smtClean="0"/>
              <a:t> </a:t>
            </a:r>
            <a:r>
              <a:rPr lang="en-US" altLang="en-US" dirty="0" smtClean="0"/>
              <a:t>F-8 Encoding for Unicode Code Points</a:t>
            </a:r>
          </a:p>
        </p:txBody>
      </p:sp>
      <p:pic>
        <p:nvPicPr>
          <p:cNvPr id="25602" name="Picture 2" descr="A table has 4 rows and 2 columns. The columns have the following headings from left to right. Code point range, hexadecimal.  U T F 8 encoding, binary, where bit positions with x are the bits of the code point value. The row entries are as follows. Row 1. Code point range, U plus 0 0 0 0 0 0 0 0 to U plus 0 0 0 0 0 0 7 F. U T F 8 encoding, 0 x x x x x x x. Row 2. Code point range, U plus 0 0 0 0 0 0 8 0 to U plus 0 0 0 0 0 7 F F. U T F 8 encoding, 1 1 0 x x x x x, then 1 0 x x x x x x. Row 3. Code point range, U plus 0 0 0 0 0 8 0 0 to U plus 0 0 0 0 F F F F. U T F-8 encoding, 1 1 1 0 x x x x, then 1 0 x x x x x x, then 1 0 x x x x x x. Row 4. Code point range, U plus 0 0 0 1 0 0 0 0 to U plus 0 0 1 0 F F F F. U T F 8 encoding, 1 1 1 1 0 x x x, then 1 0 x x x x x x, then 1 0 x x x x x x, then 1 0 x x x x x x. "/>
          <p:cNvPicPr>
            <a:picLocks noChangeAspect="1"/>
          </p:cNvPicPr>
          <p:nvPr/>
        </p:nvPicPr>
        <p:blipFill rotWithShape="1">
          <a:blip r:embed="rId3">
            <a:extLst>
              <a:ext uri="{28A0092B-C50C-407E-A947-70E740481C1C}">
                <a14:useLocalDpi xmlns:a14="http://schemas.microsoft.com/office/drawing/2010/main" val="0"/>
              </a:ext>
            </a:extLst>
          </a:blip>
          <a:srcRect t="20886"/>
          <a:stretch/>
        </p:blipFill>
        <p:spPr bwMode="auto">
          <a:xfrm>
            <a:off x="623455" y="2439809"/>
            <a:ext cx="7897091" cy="247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70893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p:txBody>
          <a:bodyPr/>
          <a:lstStyle/>
          <a:p>
            <a:r>
              <a:rPr lang="en-US" altLang="en-US" dirty="0" smtClean="0"/>
              <a:t>Table 1.7 Gray Code</a:t>
            </a:r>
          </a:p>
        </p:txBody>
      </p:sp>
      <p:pic>
        <p:nvPicPr>
          <p:cNvPr id="27650" name="Picture 2" descr="A table has 9 rows and 4 columns. The columns have the following headings from left to right. Binary Code, Bit Changes, Gray Code, Bit Changes. The row entries are as follows. Row 1. Binary code, 0 0 0. Bit changes, blank. Gray code, 0 0 0. Bit changes, blank. Row 2. Binary code, 0 0 1. Bit changes, 1. Gray code, 0 0 1. Bit changes, 1. Row 3. Binary code, 0 1 0. Bit changes, 2. Gray code, 0 1 1. Bit changes, 1. Row 4. Binary code, 0 1 1. Bit changes, 1. Gray code, 0 1 0. Bit changes, 1. Row 5. Binary code, 1 0 0. Bit changes, 3. Gray code, 1 1 0. Bit changes, 1. Row 6. Binary code, 1 0 1. Bit changes, 1. Gray code, 1 1 1. Bit changes, 1. Row 7. Binary code, 1 1 0. Bit changes, 2. Gray code, 1 0 1. Bit changes, 1. Row 8. Binary code, 1 1 1. Bit changes, 1. Gray code, 1 0 0. Bit changes, 1. Row 9. Binary code, 0 0 0. Bit changes, 3. Gray code, 0 0 0. Bit changes, 1. "/>
          <p:cNvPicPr>
            <a:picLocks noChangeAspect="1"/>
          </p:cNvPicPr>
          <p:nvPr/>
        </p:nvPicPr>
        <p:blipFill rotWithShape="1">
          <a:blip r:embed="rId3">
            <a:extLst>
              <a:ext uri="{28A0092B-C50C-407E-A947-70E740481C1C}">
                <a14:useLocalDpi xmlns:a14="http://schemas.microsoft.com/office/drawing/2010/main" val="0"/>
              </a:ext>
            </a:extLst>
          </a:blip>
          <a:srcRect t="12681"/>
          <a:stretch/>
        </p:blipFill>
        <p:spPr bwMode="auto">
          <a:xfrm>
            <a:off x="2389909" y="1788138"/>
            <a:ext cx="4364182" cy="4355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26770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r>
              <a:rPr lang="en-US" altLang="en-US" dirty="0" smtClean="0"/>
              <a:t>Figure 1-6 Optical Shaft-Angle Encoder</a:t>
            </a:r>
          </a:p>
        </p:txBody>
      </p:sp>
      <p:pic>
        <p:nvPicPr>
          <p:cNvPr id="29698" name="Picture 2" descr="Two diagrams, a and b. Diagram a has the caption, binary code for positions 0 through 7. The diagram is made up of four concentric circles and equally divided into eight parts. Each part is shaped like a pie slice. In the description the concentric circles are, from inside to outside, the core, or first layer, and the second to fourth layers. Clockwise from the top, the parts are as follows. The first part is fully shaded and labeled 0 0 0. The second part is shaded from the core to the third layer and labeled 0 0 1. The third part is shaded in the core, the first layer, and the fourth layer, and labeled 0 1 0. The fourth part is shaded in the core and the first layer, and labeled 0 1 1. The fifth part is shaded in the core, the third and fourth layers, and labeled 1 0 0. The sixth part is shaded in the core and the third layer, and labeled 1 0 1. The seventh part is shaded in the core and the fourth layer, and labeled 1 1 0. The eighth part is shaded in the core, the second layer is labeled B sub 2, the third layer is labeled B sub 1, the fourth layer is labeled B sub 0, and the whole part is labeled 1 1 1. Diagram b has the caption, gray code for positions 0 through 7. The diagram is again made up of four concentric circles and equally divided into eight parts. Clockwise from the top, the parts are as follows. The first part is fully shaded and labeled 0 0 0. The second part is shaded from the core to the third layer and labeled 0 0 1. The third part is shaded in the core and the first layer, and labeled 0 1 1. The fourth part is shaded in the core, the first layer, and the fourth layer, and labeled 0 1 0. The fifth part is shaded in the core and the fourth layer, and labeled 1 1 0. The sixth part is shaded in the core, the second layer is labeled G sub 2, the third layer is labeled G sub 1, the fourth layer is labeled G sub 0, the whole part is labeled 1 1 1. The seventh part is shaded in the core and the third layer, and labeled 1 0 1. The eighth part is shaded in the core, the third and fourth layers, and labeled 1 0 0."/>
          <p:cNvPicPr>
            <a:picLocks noChangeAspect="1"/>
          </p:cNvPicPr>
          <p:nvPr/>
        </p:nvPicPr>
        <p:blipFill rotWithShape="1">
          <a:blip r:embed="rId3">
            <a:extLst>
              <a:ext uri="{28A0092B-C50C-407E-A947-70E740481C1C}">
                <a14:useLocalDpi xmlns:a14="http://schemas.microsoft.com/office/drawing/2010/main" val="0"/>
              </a:ext>
            </a:extLst>
          </a:blip>
          <a:srcRect b="4947"/>
          <a:stretch/>
        </p:blipFill>
        <p:spPr bwMode="auto">
          <a:xfrm>
            <a:off x="831273" y="2197004"/>
            <a:ext cx="7481455" cy="3388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61662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Title 1"/>
          <p:cNvSpPr txBox="1">
            <a:spLocks noGrp="1"/>
          </p:cNvSpPr>
          <p:nvPr>
            <p:ph type="title"/>
          </p:nvPr>
        </p:nvSpPr>
        <p:spPr>
          <a:prstGeom prst="rect">
            <a:avLst/>
          </a:prstGeom>
        </p:spPr>
        <p:txBody>
          <a:bodyPr lIns="91425" tIns="91425" rIns="91425" bIns="91425" anchor="b" anchorCtr="0">
            <a:noAutofit/>
          </a:bodyPr>
          <a:lstStyle/>
          <a:p>
            <a:pPr lvl="0">
              <a:spcBef>
                <a:spcPts val="0"/>
              </a:spcBef>
              <a:buClr>
                <a:schemeClr val="lt2"/>
              </a:buClr>
              <a:buSzPct val="25000"/>
              <a:buFont typeface="Times New Roman"/>
              <a:buNone/>
            </a:pPr>
            <a:r>
              <a:rPr lang="en-US" dirty="0">
                <a:solidFill>
                  <a:schemeClr val="lt2"/>
                </a:solidFill>
                <a:latin typeface="Times New Roman" panose="02020603050405020304" pitchFamily="18" charset="0"/>
              </a:rPr>
              <a:t>Copyright</a:t>
            </a:r>
          </a:p>
        </p:txBody>
      </p:sp>
      <p:pic>
        <p:nvPicPr>
          <p:cNvPr id="386" name="Picture 2" descr="This work is protected by United States copyright laws and is provided solely for the use of instructors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honor the intended pedagogical purposes and the needs of other instructors who rely on these materials."/>
          <p:cNvPicPr preferRelativeResize="0"/>
          <p:nvPr/>
        </p:nvPicPr>
        <p:blipFill>
          <a:blip r:embed="rId3">
            <a:alphaModFix/>
          </a:blip>
          <a:stretch>
            <a:fillRect/>
          </a:stretch>
        </p:blipFill>
        <p:spPr>
          <a:xfrm>
            <a:off x="862012" y="2209800"/>
            <a:ext cx="7419975" cy="2466975"/>
          </a:xfrm>
          <a:prstGeom prst="rect">
            <a:avLst/>
          </a:prstGeom>
          <a:noFill/>
          <a:ln>
            <a:noFill/>
          </a:ln>
        </p:spPr>
      </p:pic>
    </p:spTree>
    <p:extLst>
      <p:ext uri="{BB962C8B-B14F-4D97-AF65-F5344CB8AC3E}">
        <p14:creationId xmlns:p14="http://schemas.microsoft.com/office/powerpoint/2010/main" val="32931751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hapter master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7114</TotalTime>
  <Words>215</Words>
  <Application>Microsoft Office PowerPoint</Application>
  <PresentationFormat>On-screen Show (4:3)</PresentationFormat>
  <Paragraphs>40</Paragraphs>
  <Slides>16</Slides>
  <Notes>16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16</vt:i4>
      </vt:variant>
    </vt:vector>
  </HeadingPairs>
  <TitlesOfParts>
    <vt:vector size="24" baseType="lpstr">
      <vt:lpstr>ＭＳ Ｐゴシック</vt:lpstr>
      <vt:lpstr>ＭＳ Ｐゴシック</vt:lpstr>
      <vt:lpstr>Arial</vt:lpstr>
      <vt:lpstr>Noto Sans Symbols</vt:lpstr>
      <vt:lpstr>Times New Roman</vt:lpstr>
      <vt:lpstr>Verdana</vt:lpstr>
      <vt:lpstr>508 Lecture</vt:lpstr>
      <vt:lpstr>Chapter master Lecture</vt:lpstr>
      <vt:lpstr>Logic and Computer Design Fundamentals</vt:lpstr>
      <vt:lpstr>Figure 1-1 Examples of Voltage Ranges and Waveforms for Binary Signals</vt:lpstr>
      <vt:lpstr>Figure 1-2 Block Diagram of a Digital Computer</vt:lpstr>
      <vt:lpstr>Figure 1-3 Block Diagram of an Embedded System</vt:lpstr>
      <vt:lpstr>Figure 1-4 Temperature Measurement and Display</vt:lpstr>
      <vt:lpstr>Table 1.1 Embedded System Examples</vt:lpstr>
      <vt:lpstr>Figure 1-5 Typical Layers of Abstraction in Modern Computer Systems</vt:lpstr>
      <vt:lpstr>Table 1.2 Powers of Two</vt:lpstr>
      <vt:lpstr>Table 1.3 Numbers with Different Bases</vt:lpstr>
      <vt:lpstr>Table 1.4 Binary-Coded Decimal (B C D)</vt:lpstr>
      <vt:lpstr>Table 1.5 American Standard Code for Information Interchange (A S C I I) (1 of 2)</vt:lpstr>
      <vt:lpstr>Table 1.5 American Standard Code for Information Interchange (A S C I I) (2 of 2)</vt:lpstr>
      <vt:lpstr>Table 1.6 U T F-8 Encoding for Unicode Code Points</vt:lpstr>
      <vt:lpstr>Table 1.7 Gray Code</vt:lpstr>
      <vt:lpstr>Figure 1-6 Optical Shaft-Angle Encoder</vt:lpstr>
      <vt:lpstr>Copyright</vt:lpstr>
    </vt:vector>
  </TitlesOfParts>
  <Company>Cognizant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Logic and Computer Design Fundamentals, 5e</dc:title>
  <dc:subject>ECS Image Bank</dc:subject>
  <dc:creator>Mano/Kime/Martin</dc:creator>
  <cp:keywords>ECS Image Bank</cp:keywords>
  <cp:lastModifiedBy>Pasupuleti, Rajeswari (Cognizant)</cp:lastModifiedBy>
  <cp:revision>142</cp:revision>
  <dcterms:modified xsi:type="dcterms:W3CDTF">2018-02-16T14:18:34Z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